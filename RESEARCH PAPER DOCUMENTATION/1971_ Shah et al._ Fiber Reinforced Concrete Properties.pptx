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9" r:id="rId8"/>
    <p:sldId id="261" r:id="rId9"/>
    <p:sldId id="260" r:id="rId10"/>
    <p:sldId id="265" r:id="rId11"/>
    <p:sldId id="264" r:id="rId12"/>
    <p:sldId id="263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888"/>
    <a:srgbClr val="F84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C3147-BB87-4736-AC66-84DE09BA17A7}" v="274" dt="2026-05-29T10:42:2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413-98A2-91B2-E867-0735313AF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1411-B99D-CD52-DF7E-6A51A947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F8B-A3B8-AABC-24DA-7AAD0AB7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E9E3-EF44-3135-638C-3AF32E96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EBDF-3705-BBED-A5A9-998D3D2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92B8-3DD8-CA2B-9E41-6A0424C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30F1-84AD-4C50-B30E-A948E803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E8E-5580-01E8-5BFB-FF3CC86F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10A4-BD37-7EB9-FC87-43FB1889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FCED-8E9E-22E8-EB3E-B5ED5134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2F09-07BE-BCBC-4124-F7C563E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90AB-6E89-B786-BEC2-A666E3BF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ADCE-C884-4AC9-8758-24AFAD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7101-444E-45E6-1F07-7DA122A7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E4F4-6861-A8D1-BB79-E1F7689E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6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1B1C-AD1C-9647-F56D-4ABA5406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3A8-A5CE-ED82-E07D-577CE249A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7C6FC-E928-9533-9D15-8A09B42F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F5722-CB47-8F6F-1D74-78F74073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7126-D050-3A66-0934-DBF9F4E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627F9-BA75-BB95-387B-21A5B2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F21-2BC2-B9CC-9A9A-6FDA82A9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B019-013D-4A53-A73E-D1F5939A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71DE6-984B-A7E2-E04E-2937344D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811D-57B2-4F77-03F4-FB0940F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62B42-1A88-F7D5-3E8A-5781E7503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CD8E-516D-4EA1-D828-26A52D8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6F2D-CDA2-E9CD-222B-07E94DD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CEAA6-518A-4C21-875F-8089AE6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5BC3-96F0-9E60-D884-3A1B4385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6166D-4255-D541-F874-B360B67F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4CE4-E95D-3B16-8571-0BEDE48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6B32-ECE6-E534-407E-DE613A8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1C172-2F15-62D3-4867-6D94D66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D80A-08E9-14EB-316A-0146BCBF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EC1C-8142-2AC4-F2BA-CBDB9A7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CAA6-69E5-599B-0352-97BB8283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46D2-9290-A0A2-D340-2724D7F7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04EE3-18AD-5184-9B50-3D5E27F02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EBE0-3853-C8EB-58AA-94D33C0D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9CD-CA08-38E5-1E4F-C82E6F8C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C3992-9D27-D697-146A-075957B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4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BD39-859B-9828-BB0C-E29CF94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E4FEC-6633-44AB-F243-BA3D2BFA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0E200-5286-5A1A-15AA-1942D06C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787EF-68BF-C3DE-EE06-D19220E9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C15AC-F337-932F-94AA-19B1247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4DD1-7B0F-F643-C582-D1C14424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5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6795-2CA7-E821-32E4-D1025967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00C3-A94E-B685-119B-96B7B8B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1EC-A54D-E712-1884-6C2999F5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8634-36CD-4394-7C7C-005128F6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5008-1C1F-E7B3-B507-5FCC79A7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9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8C5BA-8043-06F5-2D1B-B2F87F6F3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6328-D0B1-8B74-EF81-EE0CB8B2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2C70-4C65-2705-4610-7F31CF6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1864-EE86-8F7E-1E09-32744844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ECB9-5537-A0F8-BFC4-6E920EEF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1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9AFA5-AEE1-0A01-E69F-C05005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D1B3-B80A-BB2F-FA37-B8A8B91A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339-ACAA-0701-C9DE-067A04F6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B7F0-13AE-4E30-BCD4-102A0335973B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F519-5407-70DB-17F1-AF18EED63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9D4A-D0BE-F529-1ECB-39E19FB2A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65AC-1A2F-333D-B332-CAF8313E5CA1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RESEARCH PAPER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41B7-1DC0-4229-BF21-42B8DB91036B}"/>
              </a:ext>
            </a:extLst>
          </p:cNvPr>
          <p:cNvSpPr txBox="1"/>
          <p:nvPr/>
        </p:nvSpPr>
        <p:spPr>
          <a:xfrm>
            <a:off x="640079" y="2872899"/>
            <a:ext cx="5745731" cy="1361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Reinforced Concrete Properties (1971)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By Surendra P. Shah and B. Vijaya Rangan</a:t>
            </a:r>
          </a:p>
        </p:txBody>
      </p:sp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89A024-D4EA-F962-3ABC-4E44579CE80B}"/>
              </a:ext>
            </a:extLst>
          </p:cNvPr>
          <p:cNvSpPr txBox="1"/>
          <p:nvPr/>
        </p:nvSpPr>
        <p:spPr>
          <a:xfrm>
            <a:off x="1108349" y="4502048"/>
            <a:ext cx="4051843" cy="11560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HEMA VARSHNI	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DEPT: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Civil Engineering|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Dr.Keerthana Kirupakaran</a:t>
            </a:r>
          </a:p>
        </p:txBody>
      </p:sp>
    </p:spTree>
    <p:extLst>
      <p:ext uri="{BB962C8B-B14F-4D97-AF65-F5344CB8AC3E}">
        <p14:creationId xmlns:p14="http://schemas.microsoft.com/office/powerpoint/2010/main" val="79471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35CD1-DC4D-2AB9-8AC7-A07C824D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7711" y="-58572"/>
            <a:ext cx="8637190" cy="1642970"/>
          </a:xfrm>
        </p:spPr>
        <p:txBody>
          <a:bodyPr anchor="b">
            <a:normAutofit/>
          </a:bodyPr>
          <a:lstStyle/>
          <a:p>
            <a:pPr algn="ctr"/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FIBER REINFORCED CONCRETE?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C9E4D-E2D1-40F4-4861-1EFA9965B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601" y="1660816"/>
            <a:ext cx="4092521" cy="5120765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 plain concrete: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 behavior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tensile strength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cracking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toughness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cracks form: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 becomes rapid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occurs suddenly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Fibers: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fibers were introduced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crack resistance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toughness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crack propagation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ductility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(a) Cracks obtained for plain concrete, (b) concrete with 1.5% fibers. ">
            <a:extLst>
              <a:ext uri="{FF2B5EF4-FFF2-40B4-BE49-F238E27FC236}">
                <a16:creationId xmlns:a16="http://schemas.microsoft.com/office/drawing/2014/main" id="{368E2E02-415A-6676-25BA-51C886BAE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8" t="1" r="-133" b="1"/>
          <a:stretch>
            <a:fillRect/>
          </a:stretch>
        </p:blipFill>
        <p:spPr>
          <a:xfrm>
            <a:off x="7308925" y="894914"/>
            <a:ext cx="3933213" cy="2534059"/>
          </a:xfrm>
          <a:prstGeom prst="rect">
            <a:avLst/>
          </a:prstGeom>
        </p:spPr>
      </p:pic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10942820" y="0"/>
            <a:ext cx="1249180" cy="124540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Picture 8" descr="Tensile-to-Shear Crack Transition in ...">
            <a:extLst>
              <a:ext uri="{FF2B5EF4-FFF2-40B4-BE49-F238E27FC236}">
                <a16:creationId xmlns:a16="http://schemas.microsoft.com/office/drawing/2014/main" id="{EA3F0638-8C57-B719-3F8E-38DBF73A7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925" y="3933268"/>
            <a:ext cx="3933212" cy="24204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1FB7CA-BA88-9872-A6D0-84EF83171FF4}"/>
              </a:ext>
            </a:extLst>
          </p:cNvPr>
          <p:cNvSpPr txBox="1"/>
          <p:nvPr/>
        </p:nvSpPr>
        <p:spPr>
          <a:xfrm>
            <a:off x="4763538" y="2748881"/>
            <a:ext cx="2503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Cracks obtained for plain concrete, (b) concrete with 1.5% fibers.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84E33-26BB-04E2-1BAF-6F174FDCC9E7}"/>
              </a:ext>
            </a:extLst>
          </p:cNvPr>
          <p:cNvSpPr txBox="1"/>
          <p:nvPr/>
        </p:nvSpPr>
        <p:spPr>
          <a:xfrm>
            <a:off x="4739684" y="5830486"/>
            <a:ext cx="250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Fig2.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mechanism of fibre reinforcements. </a:t>
            </a:r>
          </a:p>
        </p:txBody>
      </p:sp>
    </p:spTree>
    <p:extLst>
      <p:ext uri="{BB962C8B-B14F-4D97-AF65-F5344CB8AC3E}">
        <p14:creationId xmlns:p14="http://schemas.microsoft.com/office/powerpoint/2010/main" val="203735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7669-1A81-2109-BF42-7A0E0FB3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C5F1F-266D-F88A-DBD6-9CA9ECEE5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1B290-AC49-FF2A-FA68-2E1AA6369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2C7BA-F8C1-B595-C646-12739E303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7500C-B81E-CCF9-A492-23A369AB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D2F64-98A3-1119-22C5-27D3FAD30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722E3-C28A-C915-09CF-F8CA7D7E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471" y="339610"/>
            <a:ext cx="7203054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UNDERSTANDING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79E4F-62CD-F2B9-30B9-0E4E5A611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5813" y="2065263"/>
                <a:ext cx="6124613" cy="3683358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Earlier researchers proposed:  “Spacing Theory”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According to this theory: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closely spaced fibers reduce crack size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cracks increase tensile strength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fibers prevent crack initiation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Griffith fracture theory: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crack length</a:t>
                </a: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crack length → higher stress required for failure.			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79E4F-62CD-F2B9-30B9-0E4E5A611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5813" y="2065263"/>
                <a:ext cx="6124613" cy="3683358"/>
              </a:xfrm>
              <a:blipFill>
                <a:blip r:embed="rId2"/>
                <a:stretch>
                  <a:fillRect l="-996" t="-9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D6C57F5-DA1C-23CC-3D39-C10468FED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F94B3A-EFF2-60ED-64A0-E0C908D24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691" y="4211113"/>
            <a:ext cx="1191523" cy="63547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DA18D8-68C3-383E-67D9-A52E8202F966}"/>
              </a:ext>
            </a:extLst>
          </p:cNvPr>
          <p:cNvSpPr txBox="1">
            <a:spLocks/>
          </p:cNvSpPr>
          <p:nvPr/>
        </p:nvSpPr>
        <p:spPr>
          <a:xfrm>
            <a:off x="6137807" y="1923660"/>
            <a:ext cx="5669915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 Existing Understanding: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studies: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not clearly separate spacing effect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several parameters simultaneously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lacked understanding of post-cracking behavior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2852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E0BA-3EE4-81DF-0F4C-060052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9C5A3-F222-DB82-5DE8-0E473683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164" y="275924"/>
            <a:ext cx="7367667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4B8-D776-3DF0-1E89-F5E10CCD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389" y="1873356"/>
            <a:ext cx="7530442" cy="4337436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aimed to investigate: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behavior of SFRC 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behavior 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behavior 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fiber spacing 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orientation 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aspect ratio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8D075B2C-E8B8-40B7-2C37-516E0345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07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EB54-7041-44C7-A306-4B70698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84570E-350C-C649-BAC0-DD43D942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8C6A96-9DFA-4613-507C-3A21130E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6674-90ED-6301-4024-DACE385D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CB53-DE2D-795D-4AC0-154EC72C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B2197-470E-4B0B-16ED-83952CBE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53B-311F-67D1-E3E5-4A4371CD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69" y="339610"/>
            <a:ext cx="8881673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EF41-FEAD-89BD-866E-3C0B67CF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90" y="1826428"/>
            <a:ext cx="3103854" cy="466976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performed: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Flexural Tests</a:t>
            </a:r>
          </a:p>
          <a:p>
            <a:pPr marL="457200" lvl="1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load-deflection response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toughness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behavior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Tests</a:t>
            </a:r>
          </a:p>
          <a:p>
            <a:pPr marL="4572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Measured: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crack strength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post-cracking resistance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Compression Tests</a:t>
            </a:r>
          </a:p>
          <a:p>
            <a:pPr marL="45720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Measured: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stress-strain response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586A3E6-D2E1-78EF-7E2D-9FB8747AC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ED6D5-3416-B37D-E8E4-762ACCFF18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63"/>
          <a:stretch>
            <a:fillRect/>
          </a:stretch>
        </p:blipFill>
        <p:spPr>
          <a:xfrm>
            <a:off x="6129005" y="1652502"/>
            <a:ext cx="5837884" cy="3102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36B3EF-2CDA-D3D5-BBB6-D7CF2F76C4AB}"/>
              </a:ext>
            </a:extLst>
          </p:cNvPr>
          <p:cNvSpPr txBox="1"/>
          <p:nvPr/>
        </p:nvSpPr>
        <p:spPr>
          <a:xfrm>
            <a:off x="6575685" y="5028438"/>
            <a:ext cx="283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of the specimen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9E490-F715-6476-8C02-FDF95FC723BE}"/>
              </a:ext>
            </a:extLst>
          </p:cNvPr>
          <p:cNvSpPr txBox="1"/>
          <p:nvPr/>
        </p:nvSpPr>
        <p:spPr>
          <a:xfrm>
            <a:off x="9249144" y="5028438"/>
            <a:ext cx="311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Prearation of the test specimen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B672F-F850-2017-3E2E-CEFF95285F54}"/>
              </a:ext>
            </a:extLst>
          </p:cNvPr>
          <p:cNvSpPr txBox="1">
            <a:spLocks/>
          </p:cNvSpPr>
          <p:nvPr/>
        </p:nvSpPr>
        <p:spPr>
          <a:xfrm>
            <a:off x="3456244" y="3031291"/>
            <a:ext cx="3982394" cy="2623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Studied: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volume fraction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orientation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spacing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ratio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55473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2F8E-46F9-7D8A-F3FF-5D35170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19DE87-0656-1865-B1A1-9F107CB7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01621-1059-2B03-3D02-3C73A97D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8DC2B-CFCB-E0DF-0518-7E24DEB0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7BC0-79FF-70DB-E29D-B862207A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571EB-2BF8-EF68-47F9-F0CB196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B6D3A-F49C-5B44-4FEE-D1AB5BC5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339" y="278535"/>
            <a:ext cx="7135318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FLEXURAL 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6778-9131-82D8-23A5-D8B451ED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89" y="1673324"/>
            <a:ext cx="5380797" cy="512786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Observation: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fibers caused: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moderate increase in strength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 increase in toughness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Result: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area under the load-deflection curve increased significantly.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energy absorption capacity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post-cracking resistance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cracks after formation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tensile stress across cracks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crack widening 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556C5F0-F0CC-322B-AB50-2EEE8DF5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85E47-A280-E33E-DBEA-22AC6A92E1B9}"/>
              </a:ext>
            </a:extLst>
          </p:cNvPr>
          <p:cNvSpPr txBox="1"/>
          <p:nvPr/>
        </p:nvSpPr>
        <p:spPr>
          <a:xfrm>
            <a:off x="4567015" y="1691039"/>
            <a:ext cx="3463206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Insight: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mainly improve: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post-cracking behavior rather than first-crack strength.</a:t>
            </a:r>
          </a:p>
          <a:p>
            <a:pPr>
              <a:lnSpc>
                <a:spcPct val="150000"/>
              </a:lnSpc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EBBDD-09A0-4EAF-7469-E641B77DF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3"/>
          <a:stretch>
            <a:fillRect/>
          </a:stretch>
        </p:blipFill>
        <p:spPr>
          <a:xfrm>
            <a:off x="8263009" y="1590739"/>
            <a:ext cx="3786128" cy="51100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939B3-11AA-3FBF-CD1B-3EBD7EA1184F}"/>
              </a:ext>
            </a:extLst>
          </p:cNvPr>
          <p:cNvSpPr txBox="1"/>
          <p:nvPr/>
        </p:nvSpPr>
        <p:spPr>
          <a:xfrm>
            <a:off x="5249202" y="6271688"/>
            <a:ext cx="3527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volume of fibres in flexure</a:t>
            </a:r>
          </a:p>
        </p:txBody>
      </p:sp>
    </p:spTree>
    <p:extLst>
      <p:ext uri="{BB962C8B-B14F-4D97-AF65-F5344CB8AC3E}">
        <p14:creationId xmlns:p14="http://schemas.microsoft.com/office/powerpoint/2010/main" val="25431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52B55-9227-66DD-E467-08B156AA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87CEB-3B58-97E7-09CC-64A571146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719E6-E66B-60CB-8803-CD11F173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58BA0-2AA1-85A6-8DCA-B10613C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9C836-CC93-F6BD-B277-AA2D19272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112C6-6B5A-77BA-B193-471F075D2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6E65-5AFE-2F12-40B7-7970EF4B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485" y="291792"/>
            <a:ext cx="6849053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ORIENTATION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CD13-9C3B-1B78-3FD9-5FA6BB0A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482" y="1643021"/>
            <a:ext cx="4234722" cy="15974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fiber orientations were studied: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perpendicular		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C9C0268-C32A-E753-E233-F6762C92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6900E9-46B7-B6A9-F568-E1710E2CE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5370"/>
              </p:ext>
            </p:extLst>
          </p:nvPr>
        </p:nvGraphicFramePr>
        <p:xfrm>
          <a:off x="667388" y="3717172"/>
          <a:ext cx="4664194" cy="1528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097">
                  <a:extLst>
                    <a:ext uri="{9D8B030D-6E8A-4147-A177-3AD203B41FA5}">
                      <a16:colId xmlns:a16="http://schemas.microsoft.com/office/drawing/2014/main" val="4028923266"/>
                    </a:ext>
                  </a:extLst>
                </a:gridCol>
                <a:gridCol w="2332097">
                  <a:extLst>
                    <a:ext uri="{9D8B030D-6E8A-4147-A177-3AD203B41FA5}">
                      <a16:colId xmlns:a16="http://schemas.microsoft.com/office/drawing/2014/main" val="777895736"/>
                    </a:ext>
                  </a:extLst>
                </a:gridCol>
              </a:tblGrid>
              <a:tr h="336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74232"/>
                  </a:ext>
                </a:extLst>
              </a:tr>
              <a:tr h="45877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strength and toughness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820289"/>
                  </a:ext>
                </a:extLst>
              </a:tr>
              <a:tr h="3366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144238"/>
                  </a:ext>
                </a:extLst>
              </a:tr>
              <a:tr h="3366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Perpendicular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effectiveness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6524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518CFB-C5BA-4954-94DB-74C85B0507EF}"/>
              </a:ext>
            </a:extLst>
          </p:cNvPr>
          <p:cNvSpPr txBox="1"/>
          <p:nvPr/>
        </p:nvSpPr>
        <p:spPr>
          <a:xfrm>
            <a:off x="270482" y="3234831"/>
            <a:ext cx="1367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EAA20-E400-3C52-055C-E58B8590E46A}"/>
              </a:ext>
            </a:extLst>
          </p:cNvPr>
          <p:cNvSpPr txBox="1"/>
          <p:nvPr/>
        </p:nvSpPr>
        <p:spPr>
          <a:xfrm>
            <a:off x="328011" y="5360194"/>
            <a:ext cx="6096000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are most effective when aligned with: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tensile stress direction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 path </a:t>
            </a:r>
          </a:p>
          <a:p>
            <a:pPr>
              <a:lnSpc>
                <a:spcPct val="150000"/>
              </a:lnSpc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53006-3F51-99E6-A9C0-E163E54888ED}"/>
              </a:ext>
            </a:extLst>
          </p:cNvPr>
          <p:cNvSpPr txBox="1"/>
          <p:nvPr/>
        </p:nvSpPr>
        <p:spPr>
          <a:xfrm>
            <a:off x="5965372" y="173206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explains why: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fibers are less efficient than aligned reinforcement.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Effect of electromagnetically aligned steel fibers on tensile properties of  hybrid steel-macro basalt fiber UHPC - ScienceDirect">
            <a:extLst>
              <a:ext uri="{FF2B5EF4-FFF2-40B4-BE49-F238E27FC236}">
                <a16:creationId xmlns:a16="http://schemas.microsoft.com/office/drawing/2014/main" id="{ED0172BB-0487-9E8F-470F-D407D9BA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317" y="2924092"/>
            <a:ext cx="4920110" cy="29346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CF0CDD-8D50-6D40-D260-276FEED0B930}"/>
              </a:ext>
            </a:extLst>
          </p:cNvPr>
          <p:cNvSpPr txBox="1"/>
          <p:nvPr/>
        </p:nvSpPr>
        <p:spPr>
          <a:xfrm>
            <a:off x="8057242" y="6041053"/>
            <a:ext cx="3527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of fibres</a:t>
            </a:r>
          </a:p>
        </p:txBody>
      </p:sp>
    </p:spTree>
    <p:extLst>
      <p:ext uri="{BB962C8B-B14F-4D97-AF65-F5344CB8AC3E}">
        <p14:creationId xmlns:p14="http://schemas.microsoft.com/office/powerpoint/2010/main" val="70982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83731-B4B0-7394-EE99-6B480878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832FD5-217F-5489-D954-C8475EC23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0E697-8270-33A3-27F8-4889FFB81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A3A86A-FE5B-2462-F27E-19D7216E2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BFED7-B4D6-6DA9-8379-9CEAEFC1B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DA8B21-DB20-DDEF-AAD7-E6B5BA05C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4FF0E-BC56-5C4C-4F9A-9F1938C0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185" y="278535"/>
            <a:ext cx="9032858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FIBER ASPECT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947F1-88B6-4F21-3321-A73BC7A5EE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4411" y="1751138"/>
                <a:ext cx="4058958" cy="3198233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Aspect ratio: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fiber length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fiber diameter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947F1-88B6-4F21-3321-A73BC7A5E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4411" y="1751138"/>
                <a:ext cx="4058958" cy="3198233"/>
              </a:xfrm>
              <a:blipFill>
                <a:blip r:embed="rId2"/>
                <a:stretch>
                  <a:fillRect l="-6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023465C-2AFC-8B1A-0BDF-E9D1F05C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6645D-E0B4-EE54-0F17-15BDC9F9A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749" y="2369740"/>
            <a:ext cx="1642264" cy="5474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127A5-B984-DA84-A346-C7A0F7027AA6}"/>
              </a:ext>
            </a:extLst>
          </p:cNvPr>
          <p:cNvSpPr txBox="1"/>
          <p:nvPr/>
        </p:nvSpPr>
        <p:spPr>
          <a:xfrm>
            <a:off x="984411" y="4691214"/>
            <a:ext cx="4242382" cy="2264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Observation: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aspect ratio fibers showed: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bond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crack bridging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toughness 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AADF7-B6DB-23B6-57E6-ACC085BC741C}"/>
              </a:ext>
            </a:extLst>
          </p:cNvPr>
          <p:cNvSpPr txBox="1"/>
          <p:nvPr/>
        </p:nvSpPr>
        <p:spPr>
          <a:xfrm>
            <a:off x="6359470" y="1751139"/>
            <a:ext cx="4516429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Mechanism: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fibers: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greater pullout energy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stronger bridging action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stress transfer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471FD-06DA-0D18-BCC7-DDFB69907DA5}"/>
              </a:ext>
            </a:extLst>
          </p:cNvPr>
          <p:cNvSpPr txBox="1"/>
          <p:nvPr/>
        </p:nvSpPr>
        <p:spPr>
          <a:xfrm>
            <a:off x="6359470" y="4113171"/>
            <a:ext cx="3933371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Insight: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Post-cracking resistance depends strongly 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pullout mechanism.</a:t>
            </a:r>
          </a:p>
        </p:txBody>
      </p:sp>
    </p:spTree>
    <p:extLst>
      <p:ext uri="{BB962C8B-B14F-4D97-AF65-F5344CB8AC3E}">
        <p14:creationId xmlns:p14="http://schemas.microsoft.com/office/powerpoint/2010/main" val="28396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1E888-3730-3DD2-B270-F3B4ED69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8857DE-0FE3-E7D5-95BB-4CD01680C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71F619-997E-6061-78BE-79A08ACBB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BDC1B-7CEB-361F-8D27-EBCBFFF05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BEBFF2-582D-0BC0-A3DB-2662CA117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8BEA4-FA71-3C4E-F54F-13FC4D298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0E8B1-D241-D5EC-FDEC-EC2AB976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58" y="291792"/>
            <a:ext cx="9089382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 MECHANISM &amp; COMPRESSION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9437A-8635-2BC3-38F2-28DA0EBA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882533"/>
            <a:ext cx="5943601" cy="138318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Discovery of the Paper: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proved that: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donot significantly prevent crack initiation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mainly resist crack propagation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B9F76FE-A315-88C7-236A-CA30FEDC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CCB09-9692-F395-FDAC-41E95C022F63}"/>
                  </a:ext>
                </a:extLst>
              </p:cNvPr>
              <p:cNvSpPr txBox="1"/>
              <p:nvPr/>
            </p:nvSpPr>
            <p:spPr>
              <a:xfrm>
                <a:off x="355599" y="3228115"/>
                <a:ext cx="4114801" cy="1992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Critical Crack Length Concept: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critical crack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was introduced.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Below this value: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fiber spacing had little influence on strength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their concrete: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inch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CCB09-9692-F395-FDAC-41E95C022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99" y="3228115"/>
                <a:ext cx="4114801" cy="1992661"/>
              </a:xfrm>
              <a:prstGeom prst="rect">
                <a:avLst/>
              </a:prstGeom>
              <a:blipFill>
                <a:blip r:embed="rId3"/>
                <a:stretch>
                  <a:fillRect l="-444" b="-24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6339E2B-FA33-BAFB-8244-7F4000B70EA2}"/>
              </a:ext>
            </a:extLst>
          </p:cNvPr>
          <p:cNvSpPr txBox="1"/>
          <p:nvPr/>
        </p:nvSpPr>
        <p:spPr>
          <a:xfrm>
            <a:off x="279399" y="5432552"/>
            <a:ext cx="4191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becomes: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 notch-insensitive below critical crack length.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1DA94-20F0-D463-1597-6284DF35FDFB}"/>
              </a:ext>
            </a:extLst>
          </p:cNvPr>
          <p:cNvSpPr txBox="1"/>
          <p:nvPr/>
        </p:nvSpPr>
        <p:spPr>
          <a:xfrm>
            <a:off x="5260796" y="1617253"/>
            <a:ext cx="54573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Behavior of SFRC: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Observation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fibers caused: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increase in compressive strength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increase in ductility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SFRC showed: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smoother post-peak response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brittle crushing</a:t>
            </a: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Mechanism: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restrain internal crack growth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microcracks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dissipate energy during crack propagation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improve post-cracking behavior and failure mechanism more than peak strength.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C3FA0C-66AC-2ACC-3E4B-536B7E203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963" y="4906561"/>
            <a:ext cx="3985438" cy="19514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AD08106-4D68-BD8D-15EA-B1CB1BAEB1C5}"/>
              </a:ext>
            </a:extLst>
          </p:cNvPr>
          <p:cNvSpPr txBox="1"/>
          <p:nvPr/>
        </p:nvSpPr>
        <p:spPr>
          <a:xfrm>
            <a:off x="4749798" y="6279381"/>
            <a:ext cx="307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crack propagation and fiber fracture in SFRC</a:t>
            </a:r>
          </a:p>
        </p:txBody>
      </p:sp>
    </p:spTree>
    <p:extLst>
      <p:ext uri="{BB962C8B-B14F-4D97-AF65-F5344CB8AC3E}">
        <p14:creationId xmlns:p14="http://schemas.microsoft.com/office/powerpoint/2010/main" val="98029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60F72-259C-ACAC-E5BE-C013EA6A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6D9A89-350E-2B27-A008-20CE5C4B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B0A7FB-C1EB-1DD1-BAE6-ADDD0A749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94F2F-0ED2-430F-A622-862FEE559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93972-4697-4882-6A3E-3A2E01CCF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F5080-CBC7-6AB3-78A1-8964C5ECB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6B895-A2FC-FB83-10EA-EF08626A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58" y="291792"/>
            <a:ext cx="9089382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FRC AS A COMPOSITE MATERIAL &amp; IMPORTANT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6F18D-FA5F-54EE-6042-A8AA26271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73" y="1648269"/>
            <a:ext cx="5210627" cy="369547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FRC as a Composite Material: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modeled SFRC as: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matrix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 reinforcement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Composite Approach: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SFRC behavior depends on interaction between: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cracking 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bridging 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pullout resistance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became the basis for: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constitutive modeling 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mechanics approaches </a:t>
            </a:r>
          </a:p>
          <a:p>
            <a:pPr marL="1200150" lvl="2" indent="-28575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FEM analysis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1EBEDAEC-486E-39F9-7DA6-1139E49A5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9525C0-08F0-AA28-E950-5FDB8CB6D498}"/>
              </a:ext>
            </a:extLst>
          </p:cNvPr>
          <p:cNvSpPr txBox="1"/>
          <p:nvPr/>
        </p:nvSpPr>
        <p:spPr>
          <a:xfrm>
            <a:off x="5486400" y="1705154"/>
            <a:ext cx="54307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Understanding: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of SFRC depends mainly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bridging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pullout resistance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absorption during crack propagation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2C6E57-F1C5-D644-528C-AF6961471CD5}"/>
              </a:ext>
            </a:extLst>
          </p:cNvPr>
          <p:cNvSpPr txBox="1"/>
          <p:nvPr/>
        </p:nvSpPr>
        <p:spPr>
          <a:xfrm>
            <a:off x="4760687" y="6412319"/>
            <a:ext cx="743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and experimental stress-strain curves for fiber reinforced concrete in compression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C355E2-24E4-9E60-408A-28277E1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250" y="2896484"/>
            <a:ext cx="5557954" cy="3523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C050B8-8822-13A9-181D-4CE73420C7BD}"/>
              </a:ext>
            </a:extLst>
          </p:cNvPr>
          <p:cNvSpPr txBox="1"/>
          <p:nvPr/>
        </p:nvSpPr>
        <p:spPr>
          <a:xfrm>
            <a:off x="275773" y="5155996"/>
            <a:ext cx="61685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Experimental Findings: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Toughness increase &gt;&gt; strength increase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Fibers mainly act after cracking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Fiber orientation strongly affects performance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High aspect ratio fibers improve crack bridging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Fibers improve ductility in compression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Spacing effect is limited below critical crack length</a:t>
            </a:r>
          </a:p>
        </p:txBody>
      </p:sp>
    </p:spTree>
    <p:extLst>
      <p:ext uri="{BB962C8B-B14F-4D97-AF65-F5344CB8AC3E}">
        <p14:creationId xmlns:p14="http://schemas.microsoft.com/office/powerpoint/2010/main" val="397714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909B8-D6E6-1F09-C044-E6161B1E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987B87-4981-6DAE-86E2-263779098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3011B-32F9-FABA-E4DF-4FB7A3910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13B67-3D3B-D3A6-42DB-275AF3979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12888-BCB6-D0E9-8FE6-125A4BCD9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9D478-8CD8-AEFC-F85F-8B8D889AF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EEEA-E16F-623A-C72E-32127985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58" y="291792"/>
            <a:ext cx="9089382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ADVANTAGES, LIMITATIONS, MODERN RELEVANCE &amp;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E6C2A-D18C-BB23-AFA9-89FDDCC7B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661400"/>
            <a:ext cx="4688113" cy="550152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SFRC: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toughness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crack control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ductility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impact resistance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fatigue performance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post-cracking energy absorption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SFRC: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fiber orientation reduces efficiency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workability and mixing difficulties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material cost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cannot fully replace conventional rebars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Relevance of the Paper: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became the theoretical foundation for: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 Reinforced Concrete (SFRC)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Cementitious Composites (ECC)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 High Performance Concrete (UHPC)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HPFRCC materials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E1E6D3F-5964-4F34-DDE5-B45626FE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E2A772-89C3-64AE-A0C6-2E3190E919AE}"/>
              </a:ext>
            </a:extLst>
          </p:cNvPr>
          <p:cNvSpPr txBox="1"/>
          <p:nvPr/>
        </p:nvSpPr>
        <p:spPr>
          <a:xfrm>
            <a:off x="4484915" y="1668091"/>
            <a:ext cx="2191658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Applications:</a:t>
            </a:r>
          </a:p>
          <a:p>
            <a:pPr marL="17145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tunnel linings </a:t>
            </a:r>
          </a:p>
          <a:p>
            <a:pPr marL="17145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pavements </a:t>
            </a:r>
          </a:p>
          <a:p>
            <a:pPr marL="17145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floors </a:t>
            </a:r>
          </a:p>
          <a:p>
            <a:pPr marL="17145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seismic-resistant structures </a:t>
            </a:r>
          </a:p>
          <a:p>
            <a:pPr marL="17145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blast-resistant concrete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4041C-BE2C-990D-70B3-89A14A10B622}"/>
              </a:ext>
            </a:extLst>
          </p:cNvPr>
          <p:cNvSpPr txBox="1"/>
          <p:nvPr/>
        </p:nvSpPr>
        <p:spPr>
          <a:xfrm>
            <a:off x="6821716" y="1678647"/>
            <a:ext cx="609600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Importance: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shifted FRC research from:</a:t>
            </a:r>
          </a:p>
          <a:p>
            <a:pPr marL="628650" lvl="1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prevention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</a:t>
            </a:r>
          </a:p>
          <a:p>
            <a:pPr marL="628650" lvl="1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crack propagation and toughness enhancement 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fundamentally changed the understanding of fiber action in concrete.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A971AD-D05E-6241-0B29-B9BB119FBA8D}"/>
              </a:ext>
            </a:extLst>
          </p:cNvPr>
          <p:cNvSpPr txBox="1"/>
          <p:nvPr/>
        </p:nvSpPr>
        <p:spPr>
          <a:xfrm>
            <a:off x="5727699" y="3571138"/>
            <a:ext cx="567508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 Conclusion: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paper demonstrated that steel fibers primarily improve: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post-cracking toughness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crack propagation resistance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ductility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energy absorption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rather than significantly increasing crack initiation strength.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A0210B-8D4F-BAC8-2710-DC50C9E696F2}"/>
              </a:ext>
            </a:extLst>
          </p:cNvPr>
          <p:cNvSpPr txBox="1"/>
          <p:nvPr/>
        </p:nvSpPr>
        <p:spPr>
          <a:xfrm>
            <a:off x="4785899" y="5804977"/>
            <a:ext cx="6233884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Historical Contribution: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most important contribution of this paper was establishing crack propagation resistance as the dominant strengthening mechanism in SFRC.</a:t>
            </a:r>
          </a:p>
        </p:txBody>
      </p:sp>
    </p:spTree>
    <p:extLst>
      <p:ext uri="{BB962C8B-B14F-4D97-AF65-F5344CB8AC3E}">
        <p14:creationId xmlns:p14="http://schemas.microsoft.com/office/powerpoint/2010/main" val="388364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E0BFDA19CD04BBBC0BCA164A788D2" ma:contentTypeVersion="12" ma:contentTypeDescription="Create a new document." ma:contentTypeScope="" ma:versionID="7fbbd0cf0f9d76d8c506aa59d1764726">
  <xsd:schema xmlns:xsd="http://www.w3.org/2001/XMLSchema" xmlns:xs="http://www.w3.org/2001/XMLSchema" xmlns:p="http://schemas.microsoft.com/office/2006/metadata/properties" xmlns:ns3="b86f656f-868b-466e-be8d-86f11f258c7c" targetNamespace="http://schemas.microsoft.com/office/2006/metadata/properties" ma:root="true" ma:fieldsID="2ca97ea48aa22325c8a21e6571da8d44" ns3:_="">
    <xsd:import namespace="b86f656f-868b-466e-be8d-86f11f258c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656f-868b-466e-be8d-86f11f258c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6f656f-868b-466e-be8d-86f11f258c7c" xsi:nil="true"/>
  </documentManagement>
</p:properties>
</file>

<file path=customXml/itemProps1.xml><?xml version="1.0" encoding="utf-8"?>
<ds:datastoreItem xmlns:ds="http://schemas.openxmlformats.org/officeDocument/2006/customXml" ds:itemID="{BE53BC1C-E1F0-4914-B23B-E068D5E8BF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4B08CB-A840-4646-8C3B-70CB53BFB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f656f-868b-466e-be8d-86f11f258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B47977-72F7-466A-BD64-71CF679FD34C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b86f656f-868b-466e-be8d-86f11f258c7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1002</Words>
  <Application>Microsoft Office PowerPoint</Application>
  <PresentationFormat>Widescreen</PresentationFormat>
  <Paragraphs>230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Presentation</vt:lpstr>
      <vt:lpstr>WHY FIBER REINFORCED CONCRETE?</vt:lpstr>
      <vt:lpstr>EARLIER UNDERSTANDING</vt:lpstr>
      <vt:lpstr>OBJECTIVE OF THE PAPER</vt:lpstr>
      <vt:lpstr>EXPERIMENTAL INVESTIGATION</vt:lpstr>
      <vt:lpstr>FLEXURAL TEST RESULTS</vt:lpstr>
      <vt:lpstr>FIBER ORIENTATION STUDY</vt:lpstr>
      <vt:lpstr>INFLUENCE OF FIBER ASPECT RATIO</vt:lpstr>
      <vt:lpstr>CRACK PROPAGATION MECHANISM &amp; COMPRESSION BEHAVIOR</vt:lpstr>
      <vt:lpstr>FRC AS A COMPOSITE MATERIAL &amp; IMPORTANT RESULTS</vt:lpstr>
      <vt:lpstr>ADVANTAGES, LIMITATIONS, MODERN RELEVANCE &amp; 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VARSHNI M</dc:creator>
  <cp:lastModifiedBy>HEMA VARSHNI M</cp:lastModifiedBy>
  <cp:revision>3</cp:revision>
  <dcterms:created xsi:type="dcterms:W3CDTF">2026-05-29T06:13:10Z</dcterms:created>
  <dcterms:modified xsi:type="dcterms:W3CDTF">2026-05-30T17:08:01Z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0x010100682E0BFDA19CD04BBBC0BCA164A788D2</vt:lpwstr>
  </property>
</Properties>
</file>